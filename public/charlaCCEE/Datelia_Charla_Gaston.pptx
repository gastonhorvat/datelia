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0584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 que trabaja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usted.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Tres demos en vivo para estudios contables.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3703320"/>
            <a:ext cx="1920240" cy="347472"/>
          </a:xfrm>
          <a:prstGeom prst="rect">
            <a:avLst/>
          </a:prstGeom>
          <a:solidFill>
            <a:srgbClr val="1A1E28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703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3703320"/>
            <a:ext cx="1920240" cy="347472"/>
          </a:xfrm>
          <a:prstGeom prst="rect">
            <a:avLst/>
          </a:prstGeom>
          <a:solidFill>
            <a:srgbClr val="1A1E28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3703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in Chrome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3703320"/>
            <a:ext cx="1920240" cy="347472"/>
          </a:xfrm>
          <a:prstGeom prst="rect">
            <a:avLst/>
          </a:prstGeom>
          <a:solidFill>
            <a:srgbClr val="1A1E28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3703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Projects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4754880"/>
            <a:ext cx="877824" cy="256032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4736592"/>
            <a:ext cx="877824" cy="2560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498080" y="731520"/>
            <a:ext cx="1645920" cy="1645920"/>
          </a:xfrm>
          <a:prstGeom prst="rect">
            <a:avLst/>
          </a:prstGeom>
          <a:solidFill>
            <a:srgbClr val="1A1E28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680960" y="2560320"/>
            <a:ext cx="1097280" cy="1097280"/>
          </a:xfrm>
          <a:prstGeom prst="rect">
            <a:avLst/>
          </a:prstGeom>
          <a:solidFill>
            <a:srgbClr val="7A501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tiempo que nadie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registra como costo.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606040" cy="2286000"/>
          </a:xfrm>
          <a:prstGeom prst="rect">
            <a:avLst/>
          </a:prstGeom>
          <a:solidFill>
            <a:srgbClr val="13161D"/>
          </a:solidFill>
          <a:ln w="6350">
            <a:solidFill>
              <a:srgbClr val="2A2E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2286000"/>
            <a:ext cx="45720" cy="228600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68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Cruzar datos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1792" y="3218688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ERP, planillas, ARCA, bancos. Todos desconectados. Un humano en el medio.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2286000"/>
            <a:ext cx="2606040" cy="2286000"/>
          </a:xfrm>
          <a:prstGeom prst="rect">
            <a:avLst/>
          </a:prstGeom>
          <a:solidFill>
            <a:srgbClr val="13161D"/>
          </a:solidFill>
          <a:ln w="6350">
            <a:solidFill>
              <a:srgbClr val="2A2E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2286000"/>
            <a:ext cx="45720" cy="228600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4688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6432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Vencimientos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56432" y="3218688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Calendario manual. Un atraso de un día = multa. Siempre urgente.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2286000"/>
            <a:ext cx="2606040" cy="2286000"/>
          </a:xfrm>
          <a:prstGeom prst="rect">
            <a:avLst/>
          </a:prstGeom>
          <a:solidFill>
            <a:srgbClr val="13161D"/>
          </a:solidFill>
          <a:ln w="6350">
            <a:solidFill>
              <a:srgbClr val="2A2E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2286000"/>
            <a:ext cx="45720" cy="228600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4688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91072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Consultas repetidas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91072" y="3218688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mismas 10 preguntas de clientes, todos los meses, en horarios imposibles.</a:t>
            </a:r>
            <a:endParaRPr lang="en-US" sz="1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4736592"/>
            <a:ext cx="877824" cy="25603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7A5010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¿Cuántas horas por semana dedica su equipo a cruzar información entre sistemas?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QUÉ CLAUDE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modelo que razona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como un profesional.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2240280"/>
            <a:ext cx="4069080" cy="1234440"/>
          </a:xfrm>
          <a:prstGeom prst="rect">
            <a:avLst/>
          </a:prstGeom>
          <a:solidFill>
            <a:srgbClr val="13161D"/>
          </a:solidFill>
          <a:ln w="6350">
            <a:solidFill>
              <a:srgbClr val="2A2E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8775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Razonamiento trazable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15568" y="26974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Muestra el paso a paso de cada conclusión. Podés verificar cómo llegó al resultado.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00600" y="2240280"/>
            <a:ext cx="4069080" cy="1234440"/>
          </a:xfrm>
          <a:prstGeom prst="rect">
            <a:avLst/>
          </a:prstGeom>
          <a:solidFill>
            <a:srgbClr val="13161D"/>
          </a:solidFill>
          <a:ln w="6350">
            <a:solidFill>
              <a:srgbClr val="2A2E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58775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58968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alucina en silencio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58968" y="26974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Cuando no tiene información suficiente, lo dice. No inventa datos contables.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3611880"/>
            <a:ext cx="4069080" cy="1234440"/>
          </a:xfrm>
          <a:prstGeom prst="rect">
            <a:avLst/>
          </a:prstGeom>
          <a:solidFill>
            <a:srgbClr val="13161D"/>
          </a:solidFill>
          <a:ln w="6350">
            <a:solidFill>
              <a:srgbClr val="2A2E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59352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15568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Sonnet 4.6 — el modelo correcto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15568" y="40690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Mejor relación costo/capacidad para procesos de volumen. El que usamos en todas las demos de hoy.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800600" y="3611880"/>
            <a:ext cx="4069080" cy="1234440"/>
          </a:xfrm>
          <a:prstGeom prst="rect">
            <a:avLst/>
          </a:prstGeom>
          <a:solidFill>
            <a:srgbClr val="13161D"/>
          </a:solidFill>
          <a:ln w="6350">
            <a:solidFill>
              <a:srgbClr val="2A2E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959352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58968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Diseñado para profesionales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58968" y="40690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Anthropic prioriza precisión sobre velocidad. Para quien firma documentos legales, eso importa.</a:t>
            </a:r>
            <a:endParaRPr lang="en-US" sz="10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568" y="4736592"/>
            <a:ext cx="877824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05840" cy="10058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0C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64592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1 — CLAUDE PROJECTS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0" y="77724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asistente que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conoce su estudio.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13161D"/>
          </a:solidFill>
          <a:ln w="6350">
            <a:solidFill>
              <a:srgbClr val="2A2E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48716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 vez que entra alguien nuevo al estudio, ¿cuánto tarda en rendir solo? ¿Y si ese conocimiento no dependiera de ninguna persona en particular?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5753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Disponible 24/7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357530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Responde en segundos. No importa si es fin de mes, feriado o las 11 de la noche.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40782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propio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407822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da respuestas genéricas. Trabaja con los datos reales de su estudio.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5811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curva de aprendizaje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88920" y="458114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Cualquier integrante del equipo puede usarlo desde el primer día.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4736592"/>
            <a:ext cx="877824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05840" cy="10058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0C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64592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2 — CLAUDE CODE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0" y="77724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trabajo que nadie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quiere hacer — y nadie nota.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13161D"/>
          </a:solidFill>
          <a:ln w="6350">
            <a:solidFill>
              <a:srgbClr val="2A2E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48716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Cruzar datos entre hojas, detectar inconsistencias, verificar que la ecuación cierre. Trabajo crítico, repetitivo, y que consume horas que podrían ir al análisis.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5753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 sobre sus archivos reales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37560" y="357530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PDFs, Excel, carpetas locales. No hay que subir nada a ningún lado.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40782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Trabaja sin supervisión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407822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Usted le da una instrucción. Él decide cómo resolverlo.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5811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 documentos firmables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458114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output no es un chat. Es un memo estructurado listo para archivar.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4736592"/>
            <a:ext cx="877824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05840" cy="10058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0C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64592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3 — CLAUDE IN CHROME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0" y="77724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Antes de aceptar un cliente,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¿cuánto saben de él?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13161D"/>
          </a:solidFill>
          <a:ln w="6350">
            <a:solidFill>
              <a:srgbClr val="2A2E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48716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Verificar ARCA, APOC, juicios, antecedentes, directivos. Información que existe y es pública — pero que lleva una hora juntar si lo hacés a mano.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5753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Navega por su cuenta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71800" y="35753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le pasás la información. Claude la va a buscar solo en las fuentes oficiales.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40782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Cruza fuentes distintas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71800" y="407822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ARCA, registros judiciales, Google, LinkedIn. Todo en un solo reporte.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5811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 accionable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71800" y="45811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es un dump de datos. Es una recomendación con semáforo de riesgo.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4736592"/>
            <a:ext cx="877824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VIERON HOY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Tres niveles de autonomía.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97480" cy="3246120"/>
          </a:xfrm>
          <a:prstGeom prst="rect">
            <a:avLst/>
          </a:prstGeom>
          <a:solidFill>
            <a:srgbClr val="13161D"/>
          </a:solidFill>
          <a:ln w="6350">
            <a:solidFill>
              <a:srgbClr val="2A2E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00200"/>
            <a:ext cx="26974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6040" y="178308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Projects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1792" y="2697480"/>
            <a:ext cx="914400" cy="256032"/>
          </a:xfrm>
          <a:prstGeom prst="rect">
            <a:avLst/>
          </a:prstGeom>
          <a:solidFill>
            <a:srgbClr val="7A5010"/>
          </a:solidFill>
          <a:ln w="5080">
            <a:solidFill>
              <a:srgbClr val="F5A6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2697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Conocimiento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1792" y="3044952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conoce su estudio. Responde con datos propios, no con información genérica.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1600200"/>
            <a:ext cx="2697480" cy="3246120"/>
          </a:xfrm>
          <a:prstGeom prst="rect">
            <a:avLst/>
          </a:prstGeom>
          <a:solidFill>
            <a:srgbClr val="13161D"/>
          </a:solidFill>
          <a:ln w="6350">
            <a:solidFill>
              <a:srgbClr val="2A2E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37560" y="1600200"/>
            <a:ext cx="26974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/>
          <p:nvPr/>
        </p:nvSpPr>
        <p:spPr>
          <a:xfrm>
            <a:off x="3502152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83080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02152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3502152" y="2697480"/>
            <a:ext cx="914400" cy="256032"/>
          </a:xfrm>
          <a:prstGeom prst="rect">
            <a:avLst/>
          </a:prstGeom>
          <a:solidFill>
            <a:srgbClr val="7A5010"/>
          </a:solidFill>
          <a:ln w="5080">
            <a:solidFill>
              <a:srgbClr val="F5A62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502152" y="2697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Autonomía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502152" y="3044952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trabaja sobre sus archivos locales sin que usted toque el teclado.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217920" y="1600200"/>
            <a:ext cx="2697480" cy="3246120"/>
          </a:xfrm>
          <a:prstGeom prst="rect">
            <a:avLst/>
          </a:prstGeom>
          <a:solidFill>
            <a:srgbClr val="13161D"/>
          </a:solidFill>
          <a:ln w="6350">
            <a:solidFill>
              <a:srgbClr val="2A2E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7920" y="1600200"/>
            <a:ext cx="26974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18"/>
          <p:cNvSpPr/>
          <p:nvPr/>
        </p:nvSpPr>
        <p:spPr>
          <a:xfrm>
            <a:off x="6382512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783080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82512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in Chrome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6382512" y="2697480"/>
            <a:ext cx="914400" cy="256032"/>
          </a:xfrm>
          <a:prstGeom prst="rect">
            <a:avLst/>
          </a:prstGeom>
          <a:solidFill>
            <a:srgbClr val="7A5010"/>
          </a:solidFill>
          <a:ln w="5080">
            <a:solidFill>
              <a:srgbClr val="F5A62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382512" y="2697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Agencia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382512" y="3044952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sale a internet, navega fuentes reales y produce un documento profesional.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3136392" y="3063240"/>
            <a:ext cx="73152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Shape 24"/>
          <p:cNvSpPr/>
          <p:nvPr/>
        </p:nvSpPr>
        <p:spPr>
          <a:xfrm>
            <a:off x="5989320" y="3063240"/>
            <a:ext cx="73152" cy="54864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4736592"/>
            <a:ext cx="877824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Esto funciona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hoy.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 las herramientas que existen. Sin desarrollo a medida.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4C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cambiar el ERP. Sin contratar más personal.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8229600" cy="36576"/>
          </a:xfrm>
          <a:prstGeom prst="rect">
            <a:avLst/>
          </a:prstGeom>
          <a:solidFill>
            <a:srgbClr val="2A2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pregunta que sigue: ¿cómo escala esto a toda su cartera de clientes?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DATELIA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datelia.com.ar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Aplicada a la Contaduría — Datelia</dc:title>
  <dc:subject>PptxGenJS Presentation</dc:subject>
  <dc:creator>PptxGenJS</dc:creator>
  <cp:lastModifiedBy>PptxGenJS</cp:lastModifiedBy>
  <cp:revision>1</cp:revision>
  <dcterms:created xsi:type="dcterms:W3CDTF">2026-05-28T04:48:00Z</dcterms:created>
  <dcterms:modified xsi:type="dcterms:W3CDTF">2026-05-28T04:48:00Z</dcterms:modified>
</cp:coreProperties>
</file>